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452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28338E-658D-470D-8777-5197E5E3F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A070EBB-A4EF-4B7D-A5EE-19D1477F7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2019BB-3560-4F91-81CF-107C30E0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A45F12-D726-47BD-9C80-4A1C5C725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876521-EF42-49F7-B019-7BC59BAE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948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C8C89-5F26-4A63-ADB8-4FD4B21F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812463-5131-41C5-89D7-CE9FBF833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3D884D-1ADB-4604-A632-259CAF30E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695408-C070-45D0-B8F0-03C1810B8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5083A4-9CD6-477C-9670-57714EC98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2091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D100E-8960-4FA7-B31B-DF132CE23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A80341-8599-4C6A-8FE7-9112235C4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22CCCA-45B2-4394-AB69-4DA0E86E6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F1694D-8480-4B92-AFD1-303BE7F65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83D20D-D084-495F-A002-BF1FD72A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0808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B18A0C-D734-4E57-84F8-85164C61B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CA770-B3F5-45F9-936F-49D37760C8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2E1F47-AA31-4E4C-80D6-3208CBF6C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94BD55-1029-409B-8D17-6EF4B8110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A7630A4-D22C-4598-A9B1-DDCB1D84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E4BE34-7A86-484A-9ABF-6C16D5857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516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D1BFF-34D2-4404-9648-5952B45DB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1276C0-E7B8-4957-8688-90141FE12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1A1653-9640-4B90-8539-3C1A27D9E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08C05B4-CF5A-4D9B-8222-6AE7A6377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AE2B2B0-450D-40F2-BDA7-BE2D9CF9E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72566EB-B45A-4A91-9A36-123384804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E09B454-EB42-4A8D-9A24-2F82BC7D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24CCC7-E74F-467D-94AA-2EC7A605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97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9B0102-7124-4179-8BBD-C051F7677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4F7BE0B-F067-4964-AE90-7F6B5E2FB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37244F-CD72-411C-9D58-A4B49259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9266613-FC3F-4075-9A46-EAA9C9116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97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EA6DBD-D4F5-4A7A-AFC1-B1B414E2D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8D4CADB-2EE6-4472-A538-3399CC51C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2CCE73-534A-4B80-9B85-6B468418D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47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F14D32-8DD9-45D9-98A7-5A078D9D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A1C799-4CDA-423A-A067-4194B6992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9C2430-DF92-4560-8B4E-30D2D710BB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EE38BB-2D41-4196-858B-A15BAC37C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4D1BFF-C2C1-4796-B559-451548CB0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E30568-E955-46DF-A67B-FA719CC7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085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615F2E-1406-4581-BE88-A402450C1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82E482-E7CB-44D2-B960-F42DBA44EF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3BE717D-2333-4A15-B06E-0F5B4148EC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6D797B-E40E-4968-B84F-D65D6690E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F76726-7993-4D5D-B12F-7B8D20F1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F85512-D1A7-4D2C-BA60-C0254C4CE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276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AA223D-32BE-4C41-A04E-BDF79A8C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034BC5-AE1F-4909-8F9B-C30D6223E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1B908B5-9BE7-4E04-9E16-56FB12280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27617-2C7A-4D1C-A066-E09960DBC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B33FD9-E0F1-420B-BCDE-8CE96FBE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640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E289DE-F222-47FE-B46D-2BB5AD7E24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9858DD-F25D-4F08-8EAC-C7AD3FA6F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D330EF-43F5-4A88-8C25-AEC79306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B97988-4B63-4C0D-B8BB-17010A1FB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B87975-4CAF-456B-83A4-6ED009E3C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721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803A547-8247-494C-8F41-9B5592A7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997EAC-9069-484B-8EE3-756E8D743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CD0A33-2118-444F-8333-B23BB142B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4565D-0A25-4CB8-ADB3-21E5E3CF014E}" type="datetimeFigureOut">
              <a:rPr lang="ko-KR" altLang="en-US" smtClean="0"/>
              <a:t>2026-04-03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9F4D0E-9DCB-4377-B374-715D696AF4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16E27-153B-4BC6-8EF8-20E31B3B6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F76A6E-5A5A-49E4-8053-F91F4689A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81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D8B6F3E4-6B40-4C7C-BF5F-A6BB80F2F49C}"/>
              </a:ext>
            </a:extLst>
          </p:cNvPr>
          <p:cNvSpPr/>
          <p:nvPr/>
        </p:nvSpPr>
        <p:spPr>
          <a:xfrm>
            <a:off x="-2024586" y="-4961308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F0F0F0"/>
          </a:solidFill>
          <a:ln w="10160">
            <a:solidFill>
              <a:srgbClr val="999999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7FABEC6-4719-4810-8B88-68EDC45C68ED}"/>
              </a:ext>
            </a:extLst>
          </p:cNvPr>
          <p:cNvSpPr/>
          <p:nvPr/>
        </p:nvSpPr>
        <p:spPr>
          <a:xfrm>
            <a:off x="-2024586" y="-49430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Ames mutagenicity dataset (n = 13,560)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913E429-918B-4F31-84F8-BA6315935C4F}"/>
              </a:ext>
            </a:extLst>
          </p:cNvPr>
          <p:cNvSpPr/>
          <p:nvPr/>
        </p:nvSpPr>
        <p:spPr>
          <a:xfrm>
            <a:off x="-2024586" y="-46412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Drug-sourced: 6,416 (pos. 58.3%)  |  Industrial-sourced: 7,144 (pos. 3.0%)</a:t>
            </a:r>
            <a:endParaRPr lang="en-US" sz="8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8C44D3E1-CA85-4BDA-AB42-BB64F154BA72}"/>
              </a:ext>
            </a:extLst>
          </p:cNvPr>
          <p:cNvSpPr/>
          <p:nvPr/>
        </p:nvSpPr>
        <p:spPr>
          <a:xfrm>
            <a:off x="-3396186" y="-3955468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0160">
            <a:solidFill>
              <a:srgbClr val="4878A8"/>
            </a:solidFill>
            <a:prstDash val="solid"/>
          </a:ln>
        </p:spPr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DAECAD90-5781-4A13-8022-1FABB10465B2}"/>
              </a:ext>
            </a:extLst>
          </p:cNvPr>
          <p:cNvSpPr/>
          <p:nvPr/>
        </p:nvSpPr>
        <p:spPr>
          <a:xfrm>
            <a:off x="-3396186" y="-39280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2a: Random-split CV</a:t>
            </a:r>
            <a:endParaRPr lang="en-US" sz="900" dirty="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FB7BC8C9-1CCC-411F-86FC-D265BA8BD70C}"/>
              </a:ext>
            </a:extLst>
          </p:cNvPr>
          <p:cNvSpPr/>
          <p:nvPr/>
        </p:nvSpPr>
        <p:spPr>
          <a:xfrm>
            <a:off x="-3396186" y="-36811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5×5 CV</a:t>
            </a:r>
            <a:endParaRPr lang="en-US" sz="75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944A892F-A1C2-4205-B44C-030D92D6A907}"/>
              </a:ext>
            </a:extLst>
          </p:cNvPr>
          <p:cNvSpPr/>
          <p:nvPr/>
        </p:nvSpPr>
        <p:spPr>
          <a:xfrm>
            <a:off x="-3396186" y="-34525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= 0.670 ± 0.010</a:t>
            </a:r>
            <a:endParaRPr lang="en-US" sz="9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5EF03CB8-8CB9-4FDA-AB66-3A70C206B473}"/>
              </a:ext>
            </a:extLst>
          </p:cNvPr>
          <p:cNvSpPr/>
          <p:nvPr/>
        </p:nvSpPr>
        <p:spPr>
          <a:xfrm>
            <a:off x="-424386" y="-3955468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0160">
            <a:solidFill>
              <a:srgbClr val="4878A8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EC6B81D7-CAD9-4C63-9EA4-BF5CB84BA596}"/>
              </a:ext>
            </a:extLst>
          </p:cNvPr>
          <p:cNvSpPr/>
          <p:nvPr/>
        </p:nvSpPr>
        <p:spPr>
          <a:xfrm>
            <a:off x="-424386" y="-39280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2b: Scaffold CV</a:t>
            </a:r>
            <a:endParaRPr lang="en-US" sz="9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F58730BF-57E9-4A28-8B83-74A5FB039D22}"/>
              </a:ext>
            </a:extLst>
          </p:cNvPr>
          <p:cNvSpPr/>
          <p:nvPr/>
        </p:nvSpPr>
        <p:spPr>
          <a:xfrm>
            <a:off x="-424386" y="-36811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GroupKFold 5×5 CV</a:t>
            </a:r>
            <a:endParaRPr lang="en-US" sz="75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7EF144A3-0B10-4614-9437-A01138E1BAE9}"/>
              </a:ext>
            </a:extLst>
          </p:cNvPr>
          <p:cNvSpPr/>
          <p:nvPr/>
        </p:nvSpPr>
        <p:spPr>
          <a:xfrm>
            <a:off x="-424386" y="-34525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= 0.624 ± 0.049</a:t>
            </a:r>
            <a:endParaRPr lang="en-US" sz="900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0C9BE864-C627-4A94-80FE-4308FC8F3212}"/>
              </a:ext>
            </a:extLst>
          </p:cNvPr>
          <p:cNvSpPr/>
          <p:nvPr/>
        </p:nvSpPr>
        <p:spPr>
          <a:xfrm>
            <a:off x="2547414" y="-3955468"/>
            <a:ext cx="2286000" cy="822960"/>
          </a:xfrm>
          <a:prstGeom prst="roundRect">
            <a:avLst>
              <a:gd name="adj" fmla="val 8889"/>
            </a:avLst>
          </a:prstGeom>
          <a:solidFill>
            <a:srgbClr val="D6E4F0"/>
          </a:solidFill>
          <a:ln w="10160">
            <a:solidFill>
              <a:srgbClr val="4878A8"/>
            </a:solidFill>
            <a:prstDash val="solid"/>
          </a:ln>
        </p:spPr>
      </p:sp>
      <p:sp>
        <p:nvSpPr>
          <p:cNvPr id="16" name="Text 17">
            <a:extLst>
              <a:ext uri="{FF2B5EF4-FFF2-40B4-BE49-F238E27FC236}">
                <a16:creationId xmlns:a16="http://schemas.microsoft.com/office/drawing/2014/main" id="{BFB182CF-978A-4255-A22C-A2CAA8D474ED}"/>
              </a:ext>
            </a:extLst>
          </p:cNvPr>
          <p:cNvSpPr/>
          <p:nvPr/>
        </p:nvSpPr>
        <p:spPr>
          <a:xfrm>
            <a:off x="2547414" y="-39280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1: Test set</a:t>
            </a:r>
            <a:endParaRPr lang="en-US" sz="900" dirty="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17F9F0A8-315E-421B-A728-8B43455F3AAA}"/>
              </a:ext>
            </a:extLst>
          </p:cNvPr>
          <p:cNvSpPr/>
          <p:nvPr/>
        </p:nvSpPr>
        <p:spPr>
          <a:xfrm>
            <a:off x="2547414" y="-368114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80/20 held-out</a:t>
            </a:r>
            <a:endParaRPr lang="en-US" sz="75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0792EFD3-CCCE-4397-AA3E-D4463F9C9360}"/>
              </a:ext>
            </a:extLst>
          </p:cNvPr>
          <p:cNvSpPr/>
          <p:nvPr/>
        </p:nvSpPr>
        <p:spPr>
          <a:xfrm>
            <a:off x="2547414" y="-34525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= 0.470</a:t>
            </a:r>
            <a:endParaRPr lang="en-US" sz="900" dirty="0"/>
          </a:p>
        </p:txBody>
      </p:sp>
      <p:sp>
        <p:nvSpPr>
          <p:cNvPr id="19" name="Shape 23">
            <a:extLst>
              <a:ext uri="{FF2B5EF4-FFF2-40B4-BE49-F238E27FC236}">
                <a16:creationId xmlns:a16="http://schemas.microsoft.com/office/drawing/2014/main" id="{E881B7F7-C516-477E-8C5F-A689BABF4E6B}"/>
              </a:ext>
            </a:extLst>
          </p:cNvPr>
          <p:cNvSpPr/>
          <p:nvPr/>
        </p:nvSpPr>
        <p:spPr>
          <a:xfrm>
            <a:off x="-3396186" y="-2789608"/>
            <a:ext cx="8229600" cy="1417320"/>
          </a:xfrm>
          <a:prstGeom prst="roundRect">
            <a:avLst>
              <a:gd name="adj" fmla="val 6452"/>
            </a:avLst>
          </a:prstGeom>
          <a:solidFill>
            <a:srgbClr val="FFF0F0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0" name="Text 24">
            <a:extLst>
              <a:ext uri="{FF2B5EF4-FFF2-40B4-BE49-F238E27FC236}">
                <a16:creationId xmlns:a16="http://schemas.microsoft.com/office/drawing/2014/main" id="{B083B4BB-9DA2-4042-B1F6-E26A8069D4AA}"/>
              </a:ext>
            </a:extLst>
          </p:cNvPr>
          <p:cNvSpPr/>
          <p:nvPr/>
        </p:nvSpPr>
        <p:spPr>
          <a:xfrm>
            <a:off x="-3396186" y="-2771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3: Cross-source-domain leave-domain-out</a:t>
            </a:r>
            <a:endParaRPr lang="en-US" sz="1000" dirty="0"/>
          </a:p>
        </p:txBody>
      </p:sp>
      <p:sp>
        <p:nvSpPr>
          <p:cNvPr id="21" name="Shape 25">
            <a:extLst>
              <a:ext uri="{FF2B5EF4-FFF2-40B4-BE49-F238E27FC236}">
                <a16:creationId xmlns:a16="http://schemas.microsoft.com/office/drawing/2014/main" id="{47B3574C-1DA8-4213-A58F-CD92E4979979}"/>
              </a:ext>
            </a:extLst>
          </p:cNvPr>
          <p:cNvSpPr/>
          <p:nvPr/>
        </p:nvSpPr>
        <p:spPr>
          <a:xfrm>
            <a:off x="-3030426" y="-2442136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0D4D5"/>
          </a:solidFill>
          <a:ln w="6350">
            <a:solidFill>
              <a:srgbClr val="C44E52"/>
            </a:solidFill>
            <a:prstDash val="solid"/>
          </a:ln>
        </p:spPr>
      </p:sp>
      <p:sp>
        <p:nvSpPr>
          <p:cNvPr id="22" name="Text 26">
            <a:extLst>
              <a:ext uri="{FF2B5EF4-FFF2-40B4-BE49-F238E27FC236}">
                <a16:creationId xmlns:a16="http://schemas.microsoft.com/office/drawing/2014/main" id="{15B34A56-DB82-48CB-A2FF-E66C4BB045A6}"/>
              </a:ext>
            </a:extLst>
          </p:cNvPr>
          <p:cNvSpPr/>
          <p:nvPr/>
        </p:nvSpPr>
        <p:spPr>
          <a:xfrm>
            <a:off x="-3030426" y="-24238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→ Industrial</a:t>
            </a:r>
            <a:endParaRPr lang="en-US" sz="900" dirty="0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7D656EF8-8B38-493C-AEB1-5923031F3565}"/>
              </a:ext>
            </a:extLst>
          </p:cNvPr>
          <p:cNvSpPr/>
          <p:nvPr/>
        </p:nvSpPr>
        <p:spPr>
          <a:xfrm>
            <a:off x="-3030426" y="-21952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6,416 (pos. 58.3%)  |  Test: 7,144 (pos. 3.0%)</a:t>
            </a:r>
            <a:endParaRPr lang="en-US" sz="700" dirty="0"/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E5DE2B32-FD34-421A-AF83-1A2928E0473F}"/>
              </a:ext>
            </a:extLst>
          </p:cNvPr>
          <p:cNvSpPr/>
          <p:nvPr/>
        </p:nvSpPr>
        <p:spPr>
          <a:xfrm>
            <a:off x="-3030426" y="-1893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= 0.234</a:t>
            </a:r>
            <a:endParaRPr lang="en-US" sz="1000" dirty="0"/>
          </a:p>
        </p:txBody>
      </p:sp>
      <p:sp>
        <p:nvSpPr>
          <p:cNvPr id="25" name="Shape 29">
            <a:extLst>
              <a:ext uri="{FF2B5EF4-FFF2-40B4-BE49-F238E27FC236}">
                <a16:creationId xmlns:a16="http://schemas.microsoft.com/office/drawing/2014/main" id="{5E6F40F8-454C-4B5E-823A-0F78F2902AED}"/>
              </a:ext>
            </a:extLst>
          </p:cNvPr>
          <p:cNvSpPr/>
          <p:nvPr/>
        </p:nvSpPr>
        <p:spPr>
          <a:xfrm>
            <a:off x="992934" y="-2442136"/>
            <a:ext cx="3474720" cy="914400"/>
          </a:xfrm>
          <a:prstGeom prst="roundRect">
            <a:avLst>
              <a:gd name="adj" fmla="val 6000"/>
            </a:avLst>
          </a:prstGeom>
          <a:solidFill>
            <a:srgbClr val="F0D4D5"/>
          </a:solidFill>
          <a:ln w="6350">
            <a:solidFill>
              <a:srgbClr val="C44E52"/>
            </a:solidFill>
            <a:prstDash val="solid"/>
          </a:ln>
        </p:spPr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B7730F3F-60DE-413B-A5C6-C582732188A2}"/>
              </a:ext>
            </a:extLst>
          </p:cNvPr>
          <p:cNvSpPr/>
          <p:nvPr/>
        </p:nvSpPr>
        <p:spPr>
          <a:xfrm>
            <a:off x="992934" y="-24238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→ Drug</a:t>
            </a:r>
            <a:endParaRPr lang="en-US" sz="900" dirty="0"/>
          </a:p>
        </p:txBody>
      </p:sp>
      <p:sp>
        <p:nvSpPr>
          <p:cNvPr id="27" name="Text 31">
            <a:extLst>
              <a:ext uri="{FF2B5EF4-FFF2-40B4-BE49-F238E27FC236}">
                <a16:creationId xmlns:a16="http://schemas.microsoft.com/office/drawing/2014/main" id="{3527848E-C65B-4677-BAAF-2CA7E533E4D8}"/>
              </a:ext>
            </a:extLst>
          </p:cNvPr>
          <p:cNvSpPr/>
          <p:nvPr/>
        </p:nvSpPr>
        <p:spPr>
          <a:xfrm>
            <a:off x="992934" y="-219524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Train: 7,144 (pos. 3.0%)  |  Test: 6,416 (pos. 58.3%)</a:t>
            </a:r>
            <a:endParaRPr lang="en-US" sz="700" dirty="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9BFD43C0-EA90-4885-BA26-BCF224ABDC95}"/>
              </a:ext>
            </a:extLst>
          </p:cNvPr>
          <p:cNvSpPr/>
          <p:nvPr/>
        </p:nvSpPr>
        <p:spPr>
          <a:xfrm>
            <a:off x="992934" y="-1893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2E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 = 0.122</a:t>
            </a:r>
            <a:endParaRPr lang="en-US" sz="1000" dirty="0"/>
          </a:p>
        </p:txBody>
      </p:sp>
      <p:sp>
        <p:nvSpPr>
          <p:cNvPr id="29" name="Shape 35">
            <a:extLst>
              <a:ext uri="{FF2B5EF4-FFF2-40B4-BE49-F238E27FC236}">
                <a16:creationId xmlns:a16="http://schemas.microsoft.com/office/drawing/2014/main" id="{8690BDA3-85C5-4C00-AAD4-D04E09293642}"/>
              </a:ext>
            </a:extLst>
          </p:cNvPr>
          <p:cNvSpPr/>
          <p:nvPr/>
        </p:nvSpPr>
        <p:spPr>
          <a:xfrm>
            <a:off x="-2938986" y="-1235128"/>
            <a:ext cx="7315200" cy="594360"/>
          </a:xfrm>
          <a:prstGeom prst="roundRect">
            <a:avLst>
              <a:gd name="adj" fmla="val 12308"/>
            </a:avLst>
          </a:prstGeom>
          <a:solidFill>
            <a:srgbClr val="FDF2DC"/>
          </a:solidFill>
          <a:ln w="10160">
            <a:solidFill>
              <a:srgbClr val="C49030"/>
            </a:solidFill>
            <a:prstDash val="solid"/>
          </a:ln>
        </p:spPr>
      </p:sp>
      <p:sp>
        <p:nvSpPr>
          <p:cNvPr id="30" name="Text 36">
            <a:extLst>
              <a:ext uri="{FF2B5EF4-FFF2-40B4-BE49-F238E27FC236}">
                <a16:creationId xmlns:a16="http://schemas.microsoft.com/office/drawing/2014/main" id="{C6DE1678-2BF0-479A-887D-50E73B79EF2B}"/>
              </a:ext>
            </a:extLst>
          </p:cNvPr>
          <p:cNvSpPr/>
          <p:nvPr/>
        </p:nvSpPr>
        <p:spPr>
          <a:xfrm>
            <a:off x="-2938986" y="-1216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4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Source-domain (Δ = 0.390)  &gt;&gt;  Split method (Δ = 0.046)  ≈  Algorithm (range = 0.063)</a:t>
            </a:r>
            <a:endParaRPr lang="en-US" sz="1000" dirty="0"/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A9C2099E-0BDC-4D71-BAFE-E6F83ADDF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526" y="612699"/>
            <a:ext cx="10710657" cy="563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324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와이드스크린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맑은 고딕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Administrator</dc:creator>
  <cp:lastModifiedBy>Administrator</cp:lastModifiedBy>
  <cp:revision>1</cp:revision>
  <dcterms:created xsi:type="dcterms:W3CDTF">2026-04-03T07:57:09Z</dcterms:created>
  <dcterms:modified xsi:type="dcterms:W3CDTF">2026-04-03T07:57:56Z</dcterms:modified>
</cp:coreProperties>
</file>