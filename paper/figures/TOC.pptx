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5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1240D-02A4-4CEC-9CD4-E69B95C2F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D7ABAA-A01C-42D7-8337-0C7C7800B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678939-3A52-41EB-A841-434DCBF0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894A55-3A09-4438-85FD-AE213B5B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D8E0E4-0C98-4F1D-9368-52C5D1B5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00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8A0F9-98CB-40B7-815D-52244AB3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0A1D1-D6CD-4813-9C9F-7562A4DA3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02A709-A9AE-4E65-B724-952C93E46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558B8-501C-416F-842E-0F3ADCD2C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E9897-527C-4253-87F4-F0948071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47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7EED7-7F1B-42E4-B344-8847E990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B45F45-8FAC-496E-BE1C-F9E2FE04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75F44-8717-40D9-B296-AC0F69F1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ADAF7-05F6-49BE-9AEB-1D2EA542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FD279-895D-465E-9D7F-7D15581A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18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36D36-015E-4785-AEE6-BF19012E0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6B491-3D84-4808-BBE8-B34E3FFFD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83219D-DA5A-4285-B90F-4040EE186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4F8520-D22F-4DA4-8F45-593ABB4C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20BEE4-768B-4DCD-AB56-2C331ADC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4456B-6F51-4F24-AEFF-8F57EBBD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93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C4A22-ADBF-4133-B910-A494A70A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099A7A-ADC9-46C1-A367-37EA291B7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F467BE-A4D8-408C-A143-DB61F7177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1CCC22-6A9C-4982-A5CB-33AF899DA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AE986C-2E2C-44FE-950B-013BA446E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58821E-0200-4A64-90AB-5FE423EC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CD9731-02AF-42C4-B9BE-DA9E82E0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DAD2CB-1806-4D93-ADE1-1DD31883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11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2E08C-0A72-4CC6-B314-22991AA2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C28CDA-A67B-4701-851F-12957035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834E6A-6546-4F4C-9A74-D46E2BD2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CDC8CD-037E-4525-ADC3-9F2534C4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48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715EF2-04D7-4675-A6A5-AC6F1A37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DF4597-CF68-4DF9-8849-B5DF8D1B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1A378-1EA2-4D6C-B29A-0B42635C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98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2C92B-3A5D-418B-91BD-DEE48062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3B6EC0-B036-4B5C-B73C-70FAA37C2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4AEC82-515E-4B1A-A792-1977B9DEF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40EC6C-E7C4-406D-8844-2D664B04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3C008C-997B-48D8-8FCE-C3D80D2E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FE6344-6F73-450A-B09F-23676F28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48495-3D2C-47CF-AB06-BA440BE9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CE3046-C4B8-44F5-9150-D765E3A5A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15539E-F113-4AAA-B003-783450935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AFC2B-5CC0-4E69-92DC-20521F87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52A105-41FE-4AA1-8CC2-C055336A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F10DF-7439-4CD4-B0DA-BCA8AE45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42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1BCF4-D73B-4C2C-B92D-14AE54A2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F514F3-4E1C-4F25-858D-C91513126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3FA3C-70F4-4AA9-AD76-A7C666D2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0E15E-A490-46EE-94C6-166FDDAF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619C7-3C50-4A8E-B2F7-3AA14528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7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66449C-59AE-4508-BFA5-A53781C2A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41DD34-5D91-4EC4-8059-C762BCC4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BC5781-A739-4776-A47E-25AD7A4D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CE09E-B576-45E8-86A4-D2A84C83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3CD24-B466-436B-9C8E-D276669F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99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DB0387-0662-4871-9E48-55FF6902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2EF464-46ED-4E6D-B9A9-4398D8ED3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84894-B918-4BDC-BBC3-1D83907E4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C8AE6-AF26-4F72-BB80-414252E7080C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6466F4-F3C9-4006-8101-B61E05A10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5E133-6A1D-4261-A78C-B5AD9D67D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E773D-C8B8-4686-A982-018F5F68C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62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그룹 63">
            <a:extLst>
              <a:ext uri="{FF2B5EF4-FFF2-40B4-BE49-F238E27FC236}">
                <a16:creationId xmlns:a16="http://schemas.microsoft.com/office/drawing/2014/main" id="{2C243F56-D4C0-459D-84F9-03920D4FDF58}"/>
              </a:ext>
            </a:extLst>
          </p:cNvPr>
          <p:cNvGrpSpPr/>
          <p:nvPr/>
        </p:nvGrpSpPr>
        <p:grpSpPr>
          <a:xfrm>
            <a:off x="1611441" y="991297"/>
            <a:ext cx="7866371" cy="4756864"/>
            <a:chOff x="1611441" y="991297"/>
            <a:chExt cx="7866371" cy="4756864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B00BBF2-DBEA-449E-9641-9C51EFF1675B}"/>
                </a:ext>
              </a:extLst>
            </p:cNvPr>
            <p:cNvSpPr/>
            <p:nvPr/>
          </p:nvSpPr>
          <p:spPr>
            <a:xfrm>
              <a:off x="2162287" y="991297"/>
              <a:ext cx="7315525" cy="42277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4EC3A4F-BE16-4901-935A-CC022F0CE731}"/>
                </a:ext>
              </a:extLst>
            </p:cNvPr>
            <p:cNvSpPr/>
            <p:nvPr/>
          </p:nvSpPr>
          <p:spPr>
            <a:xfrm>
              <a:off x="3044415" y="2549561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F7A7AA7-BA87-4498-8002-551FB2E6D416}"/>
                </a:ext>
              </a:extLst>
            </p:cNvPr>
            <p:cNvSpPr/>
            <p:nvPr/>
          </p:nvSpPr>
          <p:spPr>
            <a:xfrm>
              <a:off x="3728946" y="2549560"/>
              <a:ext cx="279700" cy="279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3026708-AFB9-4790-9F4E-09A263DEE1EB}"/>
                </a:ext>
              </a:extLst>
            </p:cNvPr>
            <p:cNvSpPr/>
            <p:nvPr/>
          </p:nvSpPr>
          <p:spPr>
            <a:xfrm>
              <a:off x="3865955" y="3610609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136DD19-1CD3-4825-9A10-F8CF071C13BA}"/>
                </a:ext>
              </a:extLst>
            </p:cNvPr>
            <p:cNvSpPr/>
            <p:nvPr/>
          </p:nvSpPr>
          <p:spPr>
            <a:xfrm>
              <a:off x="3213138" y="3406772"/>
              <a:ext cx="279700" cy="279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D8E7814-5CDB-4134-803A-986D48810F32}"/>
                </a:ext>
              </a:extLst>
            </p:cNvPr>
            <p:cNvSpPr/>
            <p:nvPr/>
          </p:nvSpPr>
          <p:spPr>
            <a:xfrm>
              <a:off x="4039497" y="3022897"/>
              <a:ext cx="279700" cy="279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547D29C-30D1-42C8-A91F-1B9A78292D05}"/>
                </a:ext>
              </a:extLst>
            </p:cNvPr>
            <p:cNvSpPr/>
            <p:nvPr/>
          </p:nvSpPr>
          <p:spPr>
            <a:xfrm>
              <a:off x="4381763" y="3441886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9F351FF-C5E9-468F-BCC1-7FB3288B0D0F}"/>
                </a:ext>
              </a:extLst>
            </p:cNvPr>
            <p:cNvSpPr/>
            <p:nvPr/>
          </p:nvSpPr>
          <p:spPr>
            <a:xfrm>
              <a:off x="3528509" y="3001382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F464ED6-70D8-4C66-B2EB-2E016A1D8F89}"/>
                </a:ext>
              </a:extLst>
            </p:cNvPr>
            <p:cNvSpPr/>
            <p:nvPr/>
          </p:nvSpPr>
          <p:spPr>
            <a:xfrm>
              <a:off x="4550486" y="2753954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B2FCF51-A50E-4C31-8C91-9A36EEC32BFE}"/>
                </a:ext>
              </a:extLst>
            </p:cNvPr>
            <p:cNvSpPr/>
            <p:nvPr/>
          </p:nvSpPr>
          <p:spPr>
            <a:xfrm>
              <a:off x="4220399" y="4094145"/>
              <a:ext cx="337446" cy="3374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3953EE-9528-4072-A8ED-6E03BEEB7D5B}"/>
                </a:ext>
              </a:extLst>
            </p:cNvPr>
            <p:cNvSpPr txBox="1"/>
            <p:nvPr/>
          </p:nvSpPr>
          <p:spPr>
            <a:xfrm>
              <a:off x="2832522" y="1660463"/>
              <a:ext cx="21302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Helvetica" panose="020B0604020202030204" pitchFamily="34" charset="0"/>
                </a:rPr>
                <a:t>Drug-source</a:t>
              </a:r>
            </a:p>
            <a:p>
              <a:pPr algn="ctr"/>
              <a:r>
                <a:rPr lang="en-US" altLang="ko-KR" sz="1400" dirty="0">
                  <a:latin typeface="Helvetica" panose="020B0604020202030204" pitchFamily="34" charset="0"/>
                </a:rPr>
                <a:t>58.3% mutagenic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837F7A2-9724-4E83-823D-D20A38CF4A94}"/>
                </a:ext>
              </a:extLst>
            </p:cNvPr>
            <p:cNvSpPr txBox="1"/>
            <p:nvPr/>
          </p:nvSpPr>
          <p:spPr>
            <a:xfrm>
              <a:off x="6802095" y="1660463"/>
              <a:ext cx="21302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Helvetica" panose="020B0604020202030204" pitchFamily="34" charset="0"/>
                </a:rPr>
                <a:t>Industrial-source</a:t>
              </a:r>
            </a:p>
            <a:p>
              <a:pPr algn="ctr"/>
              <a:r>
                <a:rPr lang="en-US" altLang="ko-KR" sz="1400" dirty="0">
                  <a:latin typeface="Helvetica" panose="020B0604020202030204" pitchFamily="34" charset="0"/>
                </a:rPr>
                <a:t>3.0% mutagenic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A7DA30-9CAF-416A-9ACD-E7D2C2A8124D}"/>
                </a:ext>
              </a:extLst>
            </p:cNvPr>
            <p:cNvSpPr txBox="1"/>
            <p:nvPr/>
          </p:nvSpPr>
          <p:spPr>
            <a:xfrm>
              <a:off x="1611441" y="1640527"/>
              <a:ext cx="461665" cy="2901746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altLang="ko-KR" dirty="0">
                  <a:latin typeface="Helvetica" panose="020B0604020202030204" pitchFamily="34" charset="0"/>
                </a:rPr>
                <a:t>Chemical space(PC2)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1242262C-AFD2-44D7-B4B7-88CE8EDC679B}"/>
                </a:ext>
              </a:extLst>
            </p:cNvPr>
            <p:cNvSpPr/>
            <p:nvPr/>
          </p:nvSpPr>
          <p:spPr>
            <a:xfrm>
              <a:off x="5172451" y="1233157"/>
              <a:ext cx="1108038" cy="3536450"/>
            </a:xfrm>
            <a:custGeom>
              <a:avLst/>
              <a:gdLst>
                <a:gd name="connsiteX0" fmla="*/ 0 w 1108038"/>
                <a:gd name="connsiteY0" fmla="*/ 0 h 4152452"/>
                <a:gd name="connsiteX1" fmla="*/ 978946 w 1108038"/>
                <a:gd name="connsiteY1" fmla="*/ 2441986 h 4152452"/>
                <a:gd name="connsiteX2" fmla="*/ 1108038 w 1108038"/>
                <a:gd name="connsiteY2" fmla="*/ 4152452 h 415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8038" h="4152452">
                  <a:moveTo>
                    <a:pt x="0" y="0"/>
                  </a:moveTo>
                  <a:cubicBezTo>
                    <a:pt x="397136" y="874955"/>
                    <a:pt x="794273" y="1749911"/>
                    <a:pt x="978946" y="2441986"/>
                  </a:cubicBezTo>
                  <a:cubicBezTo>
                    <a:pt x="1163619" y="3134061"/>
                    <a:pt x="1054250" y="3795657"/>
                    <a:pt x="1108038" y="4152452"/>
                  </a:cubicBezTo>
                </a:path>
              </a:pathLst>
            </a:cu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9C46F0-1A22-458A-8B72-82FC30A70F53}"/>
                </a:ext>
              </a:extLst>
            </p:cNvPr>
            <p:cNvSpPr txBox="1"/>
            <p:nvPr/>
          </p:nvSpPr>
          <p:spPr>
            <a:xfrm>
              <a:off x="4432965" y="1151747"/>
              <a:ext cx="21302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Helvetica" panose="020B0604020202030204" pitchFamily="34" charset="0"/>
                </a:rPr>
                <a:t>QSAR boundary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EAA4E60-24BF-4D0E-9A84-2ED0E5B4F37C}"/>
                </a:ext>
              </a:extLst>
            </p:cNvPr>
            <p:cNvSpPr/>
            <p:nvPr/>
          </p:nvSpPr>
          <p:spPr>
            <a:xfrm>
              <a:off x="6889424" y="2664566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62A1887-B390-4F02-89C0-EE139778D26F}"/>
                </a:ext>
              </a:extLst>
            </p:cNvPr>
            <p:cNvSpPr/>
            <p:nvPr/>
          </p:nvSpPr>
          <p:spPr>
            <a:xfrm>
              <a:off x="7573955" y="2664565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416ABA6-88B7-4FB0-9B30-86F30B60C341}"/>
                </a:ext>
              </a:extLst>
            </p:cNvPr>
            <p:cNvSpPr/>
            <p:nvPr/>
          </p:nvSpPr>
          <p:spPr>
            <a:xfrm>
              <a:off x="7710964" y="3725614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8C70FB0-CA62-4A64-8356-8C5D3987699D}"/>
                </a:ext>
              </a:extLst>
            </p:cNvPr>
            <p:cNvSpPr/>
            <p:nvPr/>
          </p:nvSpPr>
          <p:spPr>
            <a:xfrm>
              <a:off x="6950914" y="3133997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A03DA13-E1D8-4211-A3E7-8067A1CBA5B0}"/>
                </a:ext>
              </a:extLst>
            </p:cNvPr>
            <p:cNvSpPr/>
            <p:nvPr/>
          </p:nvSpPr>
          <p:spPr>
            <a:xfrm>
              <a:off x="7914451" y="3147017"/>
              <a:ext cx="253550" cy="2535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B572C03-9A6D-49B0-84B2-B39A9272BF4F}"/>
                </a:ext>
              </a:extLst>
            </p:cNvPr>
            <p:cNvSpPr/>
            <p:nvPr/>
          </p:nvSpPr>
          <p:spPr>
            <a:xfrm>
              <a:off x="8226772" y="3556891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A8F6F45-3EE6-4B96-9D5B-8CA60FA3D51B}"/>
                </a:ext>
              </a:extLst>
            </p:cNvPr>
            <p:cNvSpPr/>
            <p:nvPr/>
          </p:nvSpPr>
          <p:spPr>
            <a:xfrm>
              <a:off x="7373518" y="3116387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D670CED-10A8-45E1-871A-39D714F5325B}"/>
                </a:ext>
              </a:extLst>
            </p:cNvPr>
            <p:cNvSpPr/>
            <p:nvPr/>
          </p:nvSpPr>
          <p:spPr>
            <a:xfrm>
              <a:off x="8395495" y="2868959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BCD9AA8-C9A2-496A-9286-496BABED84BE}"/>
                </a:ext>
              </a:extLst>
            </p:cNvPr>
            <p:cNvSpPr/>
            <p:nvPr/>
          </p:nvSpPr>
          <p:spPr>
            <a:xfrm>
              <a:off x="8065408" y="4209150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C7886DE-A58B-46F9-836B-A90595EC11E3}"/>
                </a:ext>
              </a:extLst>
            </p:cNvPr>
            <p:cNvSpPr/>
            <p:nvPr/>
          </p:nvSpPr>
          <p:spPr>
            <a:xfrm>
              <a:off x="3473283" y="3894337"/>
              <a:ext cx="279700" cy="279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5FEC189-9FFD-496A-8BF3-27E4C7CDBEB7}"/>
                </a:ext>
              </a:extLst>
            </p:cNvPr>
            <p:cNvSpPr/>
            <p:nvPr/>
          </p:nvSpPr>
          <p:spPr>
            <a:xfrm>
              <a:off x="8715685" y="3321410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F6092E2-E32F-4336-8036-6DFE31DFC3C0}"/>
                </a:ext>
              </a:extLst>
            </p:cNvPr>
            <p:cNvSpPr/>
            <p:nvPr/>
          </p:nvSpPr>
          <p:spPr>
            <a:xfrm>
              <a:off x="8564218" y="4009342"/>
              <a:ext cx="337446" cy="3374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3C0CCA4-BC70-4093-8EC2-B0EB742EB269}"/>
                </a:ext>
              </a:extLst>
            </p:cNvPr>
            <p:cNvSpPr/>
            <p:nvPr/>
          </p:nvSpPr>
          <p:spPr>
            <a:xfrm>
              <a:off x="5498112" y="3716175"/>
              <a:ext cx="171805" cy="171805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3C12307-14C9-4259-8CDB-17327D5B01CA}"/>
                </a:ext>
              </a:extLst>
            </p:cNvPr>
            <p:cNvSpPr/>
            <p:nvPr/>
          </p:nvSpPr>
          <p:spPr>
            <a:xfrm>
              <a:off x="5584015" y="3161251"/>
              <a:ext cx="274881" cy="27488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00BBF6A-EF49-4B31-809B-D8EAB20E5A3B}"/>
                </a:ext>
              </a:extLst>
            </p:cNvPr>
            <p:cNvSpPr/>
            <p:nvPr/>
          </p:nvSpPr>
          <p:spPr>
            <a:xfrm>
              <a:off x="6313580" y="3121493"/>
              <a:ext cx="182038" cy="1820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250C22DF-8137-4D98-A3DC-132F94D74FDD}"/>
                </a:ext>
              </a:extLst>
            </p:cNvPr>
            <p:cNvSpPr/>
            <p:nvPr/>
          </p:nvSpPr>
          <p:spPr>
            <a:xfrm>
              <a:off x="5797772" y="3978705"/>
              <a:ext cx="182038" cy="1820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E92FCE7-17E2-4C4F-B33B-063EC8F9E17E}"/>
                </a:ext>
              </a:extLst>
            </p:cNvPr>
            <p:cNvSpPr/>
            <p:nvPr/>
          </p:nvSpPr>
          <p:spPr>
            <a:xfrm>
              <a:off x="6113143" y="3573315"/>
              <a:ext cx="182038" cy="1820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BD5A330D-5387-49D6-BF9B-8EB29B25BC2E}"/>
                </a:ext>
              </a:extLst>
            </p:cNvPr>
            <p:cNvSpPr/>
            <p:nvPr/>
          </p:nvSpPr>
          <p:spPr>
            <a:xfrm>
              <a:off x="2330889" y="4946428"/>
              <a:ext cx="168236" cy="16823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E9CE395-8BF6-4FA6-A8E5-724107898546}"/>
                </a:ext>
              </a:extLst>
            </p:cNvPr>
            <p:cNvSpPr/>
            <p:nvPr/>
          </p:nvSpPr>
          <p:spPr>
            <a:xfrm>
              <a:off x="2572189" y="4946428"/>
              <a:ext cx="168236" cy="16823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50D6432-954F-403E-A851-D131E3737A30}"/>
                </a:ext>
              </a:extLst>
            </p:cNvPr>
            <p:cNvSpPr txBox="1"/>
            <p:nvPr/>
          </p:nvSpPr>
          <p:spPr>
            <a:xfrm>
              <a:off x="2832522" y="4871219"/>
              <a:ext cx="881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Helvetica" panose="020B0604020202030204" pitchFamily="34" charset="0"/>
                </a:rPr>
                <a:t>Positive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37A4F5E-52CD-442C-BA11-F9E3C9196564}"/>
                </a:ext>
              </a:extLst>
            </p:cNvPr>
            <p:cNvSpPr/>
            <p:nvPr/>
          </p:nvSpPr>
          <p:spPr>
            <a:xfrm>
              <a:off x="3787113" y="4946428"/>
              <a:ext cx="168236" cy="168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5BEDA55C-CEF9-49E6-BBF5-86D352AE747F}"/>
                </a:ext>
              </a:extLst>
            </p:cNvPr>
            <p:cNvSpPr/>
            <p:nvPr/>
          </p:nvSpPr>
          <p:spPr>
            <a:xfrm>
              <a:off x="4028413" y="4946428"/>
              <a:ext cx="168236" cy="168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elvetica" panose="020B060402020203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EF45E04-2665-497B-9131-6E3DDCE2A260}"/>
                </a:ext>
              </a:extLst>
            </p:cNvPr>
            <p:cNvSpPr txBox="1"/>
            <p:nvPr/>
          </p:nvSpPr>
          <p:spPr>
            <a:xfrm>
              <a:off x="4288746" y="4871219"/>
              <a:ext cx="9573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Helvetica" panose="020B0604020202030204" pitchFamily="34" charset="0"/>
                </a:rPr>
                <a:t>Negative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32E5AD-09B7-4BF9-B28E-2278859FFC64}"/>
                </a:ext>
              </a:extLst>
            </p:cNvPr>
            <p:cNvSpPr txBox="1"/>
            <p:nvPr/>
          </p:nvSpPr>
          <p:spPr>
            <a:xfrm rot="5400000">
              <a:off x="5959010" y="4066456"/>
              <a:ext cx="461665" cy="2901746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altLang="ko-KR" dirty="0">
                  <a:latin typeface="Helvetica" panose="020B0604020202030204" pitchFamily="34" charset="0"/>
                </a:rPr>
                <a:t>Chemical space(PC1)</a:t>
              </a:r>
              <a:endParaRPr lang="ko-KR" altLang="en-US" sz="1400" dirty="0">
                <a:latin typeface="Helvetica" panose="020B0604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6532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Helvetica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4</cp:revision>
  <dcterms:created xsi:type="dcterms:W3CDTF">2026-06-12T01:40:04Z</dcterms:created>
  <dcterms:modified xsi:type="dcterms:W3CDTF">2026-06-12T01:56:49Z</dcterms:modified>
</cp:coreProperties>
</file>