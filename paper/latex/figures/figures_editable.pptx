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29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MCC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F7-4D11-A1A3-7BE62F34BC6F}"/>
              </c:ext>
            </c:extLst>
          </c:dPt>
          <c:dPt>
            <c:idx val="1"/>
            <c:invertIfNegative val="0"/>
            <c:bubble3D val="0"/>
            <c:spPr>
              <a:solidFill>
                <a:srgbClr val="487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F7-4D11-A1A3-7BE62F34BC6F}"/>
              </c:ext>
            </c:extLst>
          </c:dPt>
          <c:dPt>
            <c:idx val="2"/>
            <c:invertIfNegative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F7-4D11-A1A3-7BE62F34BC6F}"/>
              </c:ext>
            </c:extLst>
          </c:dPt>
          <c:dPt>
            <c:idx val="3"/>
            <c:invertIfNegative val="0"/>
            <c:bubble3D val="0"/>
            <c:spPr>
              <a:solidFill>
                <a:srgbClr val="C44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F7-4D11-A1A3-7BE62F34BC6F}"/>
              </c:ext>
            </c:extLst>
          </c:dPt>
          <c:dPt>
            <c:idx val="4"/>
            <c:invertIfNegative val="0"/>
            <c:bubble3D val="0"/>
            <c:spPr>
              <a:solidFill>
                <a:srgbClr val="8B2E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F7-4D11-A1A3-7BE62F34BC6F}"/>
              </c:ext>
            </c:extLst>
          </c:dPt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Random-split
CV</c:v>
                </c:pt>
                <c:pt idx="1">
                  <c:v>Scaffold-split
CV</c:v>
                </c:pt>
                <c:pt idx="2">
                  <c:v>Scaffold-split
test</c:v>
                </c:pt>
                <c:pt idx="3">
                  <c:v>LDO
(drug→ind.)</c:v>
                </c:pt>
                <c:pt idx="4">
                  <c:v>LDO
(ind.→drug)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</c:v>
                </c:pt>
                <c:pt idx="1">
                  <c:v>0.624</c:v>
                </c:pt>
                <c:pt idx="2">
                  <c:v>0.47</c:v>
                </c:pt>
                <c:pt idx="3">
                  <c:v>0.23400000000000001</c:v>
                </c:pt>
                <c:pt idx="4">
                  <c:v>0.122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F7-4D11-A1A3-7BE62F34BC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rate (%)</c:v>
                </c:pt>
              </c:strCache>
            </c:strRef>
          </c:tx>
          <c:spPr>
            <a:solidFill>
              <a:srgbClr val="4878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7F-4F24-99A4-A86BB88F30C2}"/>
              </c:ext>
            </c:extLst>
          </c:dPt>
          <c:dPt>
            <c:idx val="1"/>
            <c:invertIfNegative val="0"/>
            <c:bubble3D val="0"/>
            <c:spPr>
              <a:solidFill>
                <a:srgbClr val="80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7F-4F24-99A4-A86BB88F30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Drug-sourced
(n=6,416)</c:v>
                </c:pt>
                <c:pt idx="1">
                  <c:v>Industrial-sourced
(n=7,144)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7F-4F24-99A4-A86BB88F3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Drug → Industrial</c:v>
                </c:pt>
              </c:strCache>
            </c:strRef>
          </c:tx>
          <c:spPr>
            <a:solidFill>
              <a:srgbClr val="4878A8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0.23400000000000001</c:v>
                </c:pt>
                <c:pt idx="1">
                  <c:v>0.23200000000000001</c:v>
                </c:pt>
                <c:pt idx="2">
                  <c:v>0.23499999999999999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24-4466-9C87-D651FD04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Industrial → Drug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0.122</c:v>
                </c:pt>
                <c:pt idx="1">
                  <c:v>0.13400000000000001</c:v>
                </c:pt>
                <c:pt idx="2">
                  <c:v>0.32500000000000001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24-4466-9C87-D651FD040F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12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9646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Three-level evaluation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-6446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configuration: XGBoost + compact features + raw SMILES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0" y="379949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F0F0F0"/>
          </a:solidFill>
          <a:ln w="1016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9823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Ames mutagenicity dataset (n = 13,560)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69998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Drug-sourced: 6,416 (pos. 58.3%)  |  Industrial-sourced: 7,144 (pos. 3.0%)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385789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0160">
            <a:solidFill>
              <a:srgbClr val="487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3221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2a: Random-split CV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660109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5×5 CV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1888709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0.670 ± 0.010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1385789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0160">
            <a:solidFill>
              <a:srgbClr val="487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413221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2b: Scaffold CV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660109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GroupKFold 5×5 CV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29000" y="1888709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0.624 ± 0.049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1385789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0160">
            <a:solidFill>
              <a:srgbClr val="487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41322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1: Test set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660109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held-out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0" y="1888709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0.470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51649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6993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3: Cross-source-domain leave-domain-out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899121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0D4D5"/>
          </a:solidFill>
          <a:ln w="6350">
            <a:solidFill>
              <a:srgbClr val="C44E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917409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→ Industrial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3146009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6,416 (pos. 58.3%)  |  Test: 7,144 (pos. 3.0%)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2960" y="3447761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0.234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899121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0D4D5"/>
          </a:solidFill>
          <a:ln w="6350">
            <a:solidFill>
              <a:srgbClr val="C44E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17409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→ Drug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146009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7,144 (pos. 3.0%)  |  Test: 6,416 (pos. 58.3%)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46320" y="3447761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0.122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4400" y="4106129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FDF2DC"/>
          </a:solidFill>
          <a:ln w="10160">
            <a:solidFill>
              <a:srgbClr val="C49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1244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Source-domain (Δ = 0.390)  &gt;&gt;  Split method (Δ = 0.046)  ≈  Algorithm (range = 0.063)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87058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rigor cascade — Ames mutagenicity</a:t>
            </a:r>
            <a:endParaRPr lang="en-US" sz="14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54D866D-9E07-48A9-A13D-CDFEFDDFCF44}"/>
              </a:ext>
            </a:extLst>
          </p:cNvPr>
          <p:cNvGrpSpPr/>
          <p:nvPr/>
        </p:nvGrpSpPr>
        <p:grpSpPr>
          <a:xfrm>
            <a:off x="457200" y="731520"/>
            <a:ext cx="8467725" cy="4114800"/>
            <a:chOff x="457200" y="731520"/>
            <a:chExt cx="8467725" cy="4114800"/>
          </a:xfrm>
        </p:grpSpPr>
        <p:sp>
          <p:nvSpPr>
            <p:cNvPr id="3" name="Text 1"/>
            <p:cNvSpPr/>
            <p:nvPr/>
          </p:nvSpPr>
          <p:spPr>
            <a:xfrm>
              <a:off x="695325" y="4617720"/>
              <a:ext cx="8229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Locked configuration: XGBoost, compact features, raw SMILES</a:t>
              </a:r>
              <a:endParaRPr lang="en-US" sz="900" dirty="0"/>
            </a:p>
          </p:txBody>
        </p:sp>
        <p:graphicFrame>
          <p:nvGraphicFramePr>
            <p:cNvPr id="4" name="Chart 0"/>
            <p:cNvGraphicFramePr/>
            <p:nvPr>
              <p:extLst>
                <p:ext uri="{D42A27DB-BD31-4B8C-83A1-F6EECF244321}">
                  <p14:modId xmlns:p14="http://schemas.microsoft.com/office/powerpoint/2010/main" val="16918015"/>
                </p:ext>
              </p:extLst>
            </p:nvPr>
          </p:nvGraphicFramePr>
          <p:xfrm>
            <a:off x="457200" y="731520"/>
            <a:ext cx="8229600" cy="38404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5" name="Text 2"/>
          <p:cNvSpPr/>
          <p:nvPr/>
        </p:nvSpPr>
        <p:spPr>
          <a:xfrm>
            <a:off x="1097280" y="-443195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0.046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463040" y="-214595"/>
            <a:ext cx="1645920" cy="0"/>
          </a:xfrm>
          <a:prstGeom prst="line">
            <a:avLst/>
          </a:prstGeom>
          <a:noFill/>
          <a:ln w="8890">
            <a:solidFill>
              <a:srgbClr val="2C5F8A"/>
            </a:solidFill>
            <a:prstDash val="solid"/>
            <a:headEnd type="triangl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286000" y="-1403131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0.390 (source-domain effect)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0" y="-1192819"/>
            <a:ext cx="3474720" cy="0"/>
          </a:xfrm>
          <a:prstGeom prst="line">
            <a:avLst/>
          </a:prstGeom>
          <a:noFill/>
          <a:ln w="10160">
            <a:solidFill>
              <a:srgbClr val="C44E52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76147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Source-domain confounding &amp; algorithm robustness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Source-domain composition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3931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623848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19.5-fold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54880" y="502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Leave-domain-out by algorithm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54880" y="7772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772400" y="1320165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robust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shift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source-domain classifier: MCC = 0.608, balanced accuracy = 0.834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01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10440</TotalTime>
  <Words>208</Words>
  <Application>Microsoft Office PowerPoint</Application>
  <PresentationFormat>화면 슬라이드 쇼(16:9)</PresentationFormat>
  <Paragraphs>35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7</cp:revision>
  <dcterms:created xsi:type="dcterms:W3CDTF">2026-04-02T08:09:10Z</dcterms:created>
  <dcterms:modified xsi:type="dcterms:W3CDTF">2026-04-13T02:29:38Z</dcterms:modified>
</cp:coreProperties>
</file>